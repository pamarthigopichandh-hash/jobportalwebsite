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 dirty="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</a:rPr>
              <a:t>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0A567-922E-95AB-45EC-FA2098AA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358141"/>
            <a:ext cx="78867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FAIRFAX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68BE1-7E29-6C33-D310-C22BA5980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74" y="314631"/>
            <a:ext cx="5427407" cy="459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8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dirty="0"/>
              <a:t>Introduction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Daily Appliance Usage Appliances are essential for daily household activities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 Any malfunction affects routine life and comfort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Service Dependency Most households depend on external technicians 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Immediate service needs reduce decision time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Knowledge Gap Customers lack technical knowledge of appliances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 Makes them vulnerable to misleading information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Service Challenges No clear explanation of service charges  Difficulty in questioning technicians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Need for Digital Solution A platform to educate and inform users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 Helps customers make better decisions  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34155-828D-0556-DCF7-CC06C2FE9B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12" r="22649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dirty="0">
                <a:solidFill>
                  <a:schemeClr val="bg1"/>
                </a:solidFill>
              </a:rPr>
              <a:t>Problem Statement Inspection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Charges Technicians charge randomly for inspections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No standardized fee structure exists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 Spare Part Pricing Parts are often overpriced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Customers cannot verify market rates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Unnecessary Repairs Functional parts replaced unnecessarily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 Leads to increased service bills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Lack of Awareness Customers have no price reference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Unable to judge fair charges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 Accountability Issues No proper service proof provided 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 Disputes remain unresolved..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1DDA0-E5A3-A3FB-867C-1AF8A71F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30" r="16354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dirty="0"/>
              <a:t>Impact of the Problem Financial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Loss Customers pay more than required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Repeated repairs increase expenses 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Emotional Stress Anxiety due to unclear billing Loss of peace of mind 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Trust Issues Decreased confidence in technicians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Fear of future services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Service Dissatisfaction Poor overall experience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Negative feedback spreads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Social Impact Honest technicians lose credibility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Service industry reputation declines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DA04B-7CE0-81F6-C2F2-7E5428C330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44" r="34724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IN" sz="4700" dirty="0">
                <a:solidFill>
                  <a:schemeClr val="bg1"/>
                </a:solidFill>
              </a:rPr>
              <a:t>Existing System Manual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  <a:blipFill>
            <a:blip r:embed="rId2"/>
            <a:stretch>
              <a:fillRect/>
            </a:stretch>
          </a:blipFill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Billing Handwritten bills lack transparency .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 No detailed cost breakup .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 Price Variations Same service priced differently . No regulation .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No Service Records Customers cannot track past repairs.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No maintenance history.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Technician Verification No identity or skill verification.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Anyone can provide service.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Complaint Handling No structured complaint system.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chemeClr val="bg1"/>
                </a:solidFill>
              </a:rPr>
              <a:t>Issues remain unsolved.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2071D-76D1-C330-0FCC-EA4C86E9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84" r="11784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IN" sz="4700" dirty="0"/>
              <a:t>Proposed Solution Mobile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Application Acts as an information and support tool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Easy to access anytime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Transparent Pricing Displays standard service charges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Prevents overcharging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Spare Part Details Shows approximate market prices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Helps identify fake or costly parts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Verified Technicians registered with credentials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Builds customer trust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Digital Records Stores service history securely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Useful for future reference.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17251-D95C-943C-928A-2202A2EDA6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01" r="38650" b="-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IN" sz="4700" dirty="0">
                <a:solidFill>
                  <a:schemeClr val="bg1"/>
                </a:solidFill>
              </a:rPr>
              <a:t>Key Features Service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IN" sz="1900" dirty="0">
                <a:solidFill>
                  <a:schemeClr val="bg1"/>
                </a:solidFill>
              </a:rPr>
              <a:t>Price List Predefined service cost range</a:t>
            </a:r>
          </a:p>
          <a:p>
            <a:r>
              <a:rPr lang="en-IN" sz="1900" dirty="0">
                <a:solidFill>
                  <a:schemeClr val="bg1"/>
                </a:solidFill>
              </a:rPr>
              <a:t>Acts as a pricing benchmark</a:t>
            </a:r>
          </a:p>
          <a:p>
            <a:r>
              <a:rPr lang="en-IN" sz="1900" dirty="0">
                <a:solidFill>
                  <a:schemeClr val="bg1"/>
                </a:solidFill>
              </a:rPr>
              <a:t>Technician Profiles Shows experience and ratings</a:t>
            </a:r>
          </a:p>
          <a:p>
            <a:r>
              <a:rPr lang="en-IN" sz="1900" dirty="0">
                <a:solidFill>
                  <a:schemeClr val="bg1"/>
                </a:solidFill>
              </a:rPr>
              <a:t>Helps users choose better</a:t>
            </a:r>
          </a:p>
          <a:p>
            <a:r>
              <a:rPr lang="en-IN" sz="1900" dirty="0">
                <a:solidFill>
                  <a:schemeClr val="bg1"/>
                </a:solidFill>
              </a:rPr>
              <a:t>Digital Billing Clear and itemized invoices</a:t>
            </a:r>
          </a:p>
          <a:p>
            <a:r>
              <a:rPr lang="en-IN" sz="1900" dirty="0">
                <a:solidFill>
                  <a:schemeClr val="bg1"/>
                </a:solidFill>
              </a:rPr>
              <a:t>Reduces billing disputes</a:t>
            </a:r>
          </a:p>
          <a:p>
            <a:r>
              <a:rPr lang="en-IN" sz="1900" dirty="0">
                <a:solidFill>
                  <a:schemeClr val="bg1"/>
                </a:solidFill>
              </a:rPr>
              <a:t>Feedback System User reviews after service</a:t>
            </a:r>
          </a:p>
          <a:p>
            <a:r>
              <a:rPr lang="en-IN" sz="1900" dirty="0">
                <a:solidFill>
                  <a:schemeClr val="bg1"/>
                </a:solidFill>
              </a:rPr>
              <a:t>Improves accountability</a:t>
            </a:r>
          </a:p>
          <a:p>
            <a:r>
              <a:rPr lang="en-IN" sz="1900" dirty="0">
                <a:solidFill>
                  <a:schemeClr val="bg1"/>
                </a:solidFill>
              </a:rPr>
              <a:t>Cost Estimation Approximate cost before service</a:t>
            </a:r>
          </a:p>
          <a:p>
            <a:r>
              <a:rPr lang="en-IN" sz="1900" dirty="0">
                <a:solidFill>
                  <a:schemeClr val="bg1"/>
                </a:solidFill>
              </a:rPr>
              <a:t>Helps budget planning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95472D-31E0-6FF7-8DF9-9161B4CE44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80" r="24378" b="-1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dirty="0"/>
              <a:t>Working of the App User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Registration Simple sign-up process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Secure login system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Service Booking 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Select appliance and issue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Choose preferred time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Cost Estimated cost displayed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Based on standard rates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Service Execution Technician performs repair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Updates service status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Post-Service Feedback User ratings and reviews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Stored for future reference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DF44B-258A-F76F-63C3-04F28C000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57" r="44183" b="1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IN" sz="4700" dirty="0">
                <a:solidFill>
                  <a:schemeClr val="bg1"/>
                </a:solidFill>
              </a:rPr>
              <a:t>Benefits to Customers Cost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Protection Prevents unnecessary expenses</a:t>
            </a:r>
          </a:p>
          <a:p>
            <a:r>
              <a:rPr lang="en-US" sz="1900" dirty="0">
                <a:solidFill>
                  <a:schemeClr val="bg1"/>
                </a:solidFill>
              </a:rPr>
              <a:t>Ensures fair pricing</a:t>
            </a:r>
          </a:p>
          <a:p>
            <a:r>
              <a:rPr lang="en-US" sz="1900" dirty="0">
                <a:solidFill>
                  <a:schemeClr val="bg1"/>
                </a:solidFill>
              </a:rPr>
              <a:t>Transparency Clear service and price details</a:t>
            </a:r>
          </a:p>
          <a:p>
            <a:r>
              <a:rPr lang="en-US" sz="1900" dirty="0">
                <a:solidFill>
                  <a:schemeClr val="bg1"/>
                </a:solidFill>
              </a:rPr>
              <a:t>No hidden charges</a:t>
            </a:r>
          </a:p>
          <a:p>
            <a:r>
              <a:rPr lang="en-US" sz="1900" dirty="0">
                <a:solidFill>
                  <a:schemeClr val="bg1"/>
                </a:solidFill>
              </a:rPr>
              <a:t>Convenience Easy booking and tracking</a:t>
            </a:r>
          </a:p>
          <a:p>
            <a:r>
              <a:rPr lang="en-US" sz="1900" dirty="0">
                <a:solidFill>
                  <a:schemeClr val="bg1"/>
                </a:solidFill>
              </a:rPr>
              <a:t>Saves time</a:t>
            </a:r>
          </a:p>
          <a:p>
            <a:r>
              <a:rPr lang="en-US" sz="1900" dirty="0">
                <a:solidFill>
                  <a:schemeClr val="bg1"/>
                </a:solidFill>
              </a:rPr>
              <a:t>Safety Verified technicians only</a:t>
            </a:r>
          </a:p>
          <a:p>
            <a:r>
              <a:rPr lang="en-US" sz="1900" dirty="0">
                <a:solidFill>
                  <a:schemeClr val="bg1"/>
                </a:solidFill>
              </a:rPr>
              <a:t>Secure service experience</a:t>
            </a:r>
          </a:p>
          <a:p>
            <a:r>
              <a:rPr lang="en-US" sz="1900" dirty="0">
                <a:solidFill>
                  <a:schemeClr val="bg1"/>
                </a:solidFill>
              </a:rPr>
              <a:t>Service History Digital record of repairs</a:t>
            </a:r>
          </a:p>
          <a:p>
            <a:r>
              <a:rPr lang="en-US" sz="1900" dirty="0">
                <a:solidFill>
                  <a:schemeClr val="bg1"/>
                </a:solidFill>
              </a:rPr>
              <a:t>Useful for maintenance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4A482-8946-DDD2-1E22-190C178AB0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31" r="38307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IN" sz="4700" dirty="0"/>
              <a:t>Benefits to Technicians Fair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US" sz="1900" dirty="0"/>
              <a:t>Charges Standard pricing system</a:t>
            </a:r>
          </a:p>
          <a:p>
            <a:r>
              <a:rPr lang="en-US" sz="1900" dirty="0"/>
              <a:t>Avoids conflicts</a:t>
            </a:r>
          </a:p>
          <a:p>
            <a:r>
              <a:rPr lang="en-US" sz="1900" dirty="0"/>
              <a:t>Customer Trust Ratings build reputation</a:t>
            </a:r>
          </a:p>
          <a:p>
            <a:r>
              <a:rPr lang="en-US" sz="1900" dirty="0"/>
              <a:t>Encourages repeat customers</a:t>
            </a:r>
          </a:p>
          <a:p>
            <a:r>
              <a:rPr lang="en-US" sz="1900" dirty="0"/>
              <a:t>Increased Visibility More service requests</a:t>
            </a:r>
          </a:p>
          <a:p>
            <a:r>
              <a:rPr lang="en-US" sz="1900" dirty="0"/>
              <a:t>Digital presence</a:t>
            </a:r>
          </a:p>
          <a:p>
            <a:r>
              <a:rPr lang="en-US" sz="1900" dirty="0"/>
              <a:t>Work Management Organized service records</a:t>
            </a:r>
          </a:p>
          <a:p>
            <a:r>
              <a:rPr lang="en-US" sz="1900" dirty="0"/>
              <a:t>Efficient scheduling</a:t>
            </a:r>
          </a:p>
          <a:p>
            <a:r>
              <a:rPr lang="en-US" sz="1900" dirty="0"/>
              <a:t>Payment Records Clear digital invoices</a:t>
            </a:r>
          </a:p>
          <a:p>
            <a:r>
              <a:rPr lang="en-US" sz="1900" dirty="0"/>
              <a:t>Easy tracking.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FEE01-0965-03F4-5F9B-58D40F18C3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3" r="49175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IN" sz="4700" dirty="0">
                <a:solidFill>
                  <a:schemeClr val="bg1"/>
                </a:solidFill>
              </a:rPr>
              <a:t>Future Enhancements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IN" sz="1900" dirty="0">
                <a:solidFill>
                  <a:schemeClr val="bg1"/>
                </a:solidFill>
              </a:rPr>
              <a:t>AI Integration Automatic fault detection</a:t>
            </a:r>
          </a:p>
          <a:p>
            <a:r>
              <a:rPr lang="en-IN" sz="1900" dirty="0">
                <a:solidFill>
                  <a:schemeClr val="bg1"/>
                </a:solidFill>
              </a:rPr>
              <a:t>Smarter service suggestions</a:t>
            </a:r>
          </a:p>
          <a:p>
            <a:r>
              <a:rPr lang="en-IN" sz="1900" dirty="0">
                <a:solidFill>
                  <a:schemeClr val="bg1"/>
                </a:solidFill>
              </a:rPr>
              <a:t>Online Spare Parts Genuine parts availability</a:t>
            </a:r>
          </a:p>
          <a:p>
            <a:r>
              <a:rPr lang="en-IN" sz="1900" dirty="0">
                <a:solidFill>
                  <a:schemeClr val="bg1"/>
                </a:solidFill>
              </a:rPr>
              <a:t>Quality assurance</a:t>
            </a:r>
          </a:p>
          <a:p>
            <a:r>
              <a:rPr lang="en-IN" sz="1900" dirty="0">
                <a:solidFill>
                  <a:schemeClr val="bg1"/>
                </a:solidFill>
              </a:rPr>
              <a:t>Service Reminders Maintenance alerts</a:t>
            </a:r>
          </a:p>
          <a:p>
            <a:r>
              <a:rPr lang="en-IN" sz="1900" dirty="0">
                <a:solidFill>
                  <a:schemeClr val="bg1"/>
                </a:solidFill>
              </a:rPr>
              <a:t>Extends appliance life</a:t>
            </a:r>
          </a:p>
          <a:p>
            <a:r>
              <a:rPr lang="en-IN" sz="1900" dirty="0">
                <a:solidFill>
                  <a:schemeClr val="bg1"/>
                </a:solidFill>
              </a:rPr>
              <a:t>Multilingual Support Regional language options</a:t>
            </a:r>
          </a:p>
          <a:p>
            <a:r>
              <a:rPr lang="en-IN" sz="1900" dirty="0">
                <a:solidFill>
                  <a:schemeClr val="bg1"/>
                </a:solidFill>
              </a:rPr>
              <a:t>User-friendly for all</a:t>
            </a:r>
          </a:p>
          <a:p>
            <a:r>
              <a:rPr lang="en-IN" sz="1900" dirty="0">
                <a:solidFill>
                  <a:schemeClr val="bg1"/>
                </a:solidFill>
              </a:rPr>
              <a:t>Smart Integration Compatible with smart homes</a:t>
            </a:r>
          </a:p>
          <a:p>
            <a:r>
              <a:rPr lang="en-IN" sz="1900" dirty="0">
                <a:solidFill>
                  <a:schemeClr val="bg1"/>
                </a:solidFill>
              </a:rPr>
              <a:t>Advanced monitoring.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A42E0-566A-D8DC-1194-72746698FC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99" r="32495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 dirty="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/>
              <a:t>Problem Identification Overcharging issues identified</a:t>
            </a:r>
          </a:p>
          <a:p>
            <a:r>
              <a:rPr lang="en-US" sz="1900" dirty="0"/>
              <a:t>Lack of transparency addressed</a:t>
            </a:r>
          </a:p>
          <a:p>
            <a:r>
              <a:rPr lang="en-US" sz="1900" dirty="0"/>
              <a:t>Solution Approach App-based awareness system</a:t>
            </a:r>
          </a:p>
          <a:p>
            <a:r>
              <a:rPr lang="en-US" sz="1900" dirty="0"/>
              <a:t>Improves fairness</a:t>
            </a:r>
          </a:p>
          <a:p>
            <a:r>
              <a:rPr lang="en-US" sz="1900" dirty="0"/>
              <a:t>Transparency Clear pricing and records</a:t>
            </a:r>
          </a:p>
          <a:p>
            <a:r>
              <a:rPr lang="en-US" sz="1900" dirty="0"/>
              <a:t>Reduces exploitation</a:t>
            </a:r>
          </a:p>
          <a:p>
            <a:r>
              <a:rPr lang="en-US" sz="1900" dirty="0"/>
              <a:t>Stakeholder Benefits Customers and technicians benefit</a:t>
            </a:r>
          </a:p>
          <a:p>
            <a:r>
              <a:rPr lang="en-US" sz="1900" dirty="0"/>
              <a:t>Balanced service ecosystem</a:t>
            </a:r>
          </a:p>
          <a:p>
            <a:r>
              <a:rPr lang="en-US" sz="1900" dirty="0"/>
              <a:t>Final Outcome Trustworthy appliance service system</a:t>
            </a:r>
          </a:p>
          <a:p>
            <a:r>
              <a:rPr lang="en-US" sz="1900" dirty="0"/>
              <a:t>Better customer satisfaction.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8600A0-5824-BD57-4F88-9F4A06895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49012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8987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590</Words>
  <Application>Microsoft Office PowerPoint</Application>
  <PresentationFormat>On-screen Show (4:3)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TITLE</vt:lpstr>
      <vt:lpstr>FAIRFAX</vt:lpstr>
      <vt:lpstr>Introduction</vt:lpstr>
      <vt:lpstr>Problem Statement Inspection</vt:lpstr>
      <vt:lpstr>Impact of the Problem Financial</vt:lpstr>
      <vt:lpstr>Existing System Manual</vt:lpstr>
      <vt:lpstr>Proposed Solution Mobile</vt:lpstr>
      <vt:lpstr>Key Features Service</vt:lpstr>
      <vt:lpstr>Working of the App User</vt:lpstr>
      <vt:lpstr>Benefits to Customers Cost</vt:lpstr>
      <vt:lpstr>Benefits to Technicians Fair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ANUHYA KANAGALA</cp:lastModifiedBy>
  <cp:revision>5</cp:revision>
  <dcterms:created xsi:type="dcterms:W3CDTF">2013-01-27T09:14:16Z</dcterms:created>
  <dcterms:modified xsi:type="dcterms:W3CDTF">2026-02-12T16:12:25Z</dcterms:modified>
  <cp:category/>
</cp:coreProperties>
</file>